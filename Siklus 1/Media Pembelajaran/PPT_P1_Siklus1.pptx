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902451" y="0"/>
            <a:ext cx="6286499" cy="6858000"/>
          </a:xfrm>
          <a:prstGeom prst="rect">
            <a:avLst/>
          </a:prstGeom>
          <a:solidFill>
            <a:srgbClr val="0A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sosceles Triangle 3"/>
          <p:cNvSpPr/>
          <p:nvPr/>
        </p:nvSpPr>
        <p:spPr>
          <a:xfrm>
            <a:off x="6245352" y="0"/>
            <a:ext cx="5943600" cy="3840480"/>
          </a:xfrm>
          <a:prstGeom prst="triangle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65876" y="-36576"/>
            <a:ext cx="411480" cy="68580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572768"/>
            <a:ext cx="5865876" cy="58783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384048"/>
            <a:ext cx="4229100" cy="89611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59" y="420623"/>
            <a:ext cx="40176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Calibri"/>
              </a:rPr>
              <a:t>★  PERTEMUAN 1  </a:t>
            </a:r>
            <a:br>
              <a:rPr lang="en-US" sz="2400" b="1" i="0" dirty="0">
                <a:solidFill>
                  <a:srgbClr val="FFFFFF"/>
                </a:solidFill>
                <a:latin typeface="Calibri"/>
              </a:rPr>
            </a:br>
            <a:r>
              <a:rPr sz="2400" b="1" i="0" dirty="0">
                <a:solidFill>
                  <a:srgbClr val="FFFFFF"/>
                </a:solidFill>
                <a:latin typeface="Calibri"/>
              </a:rPr>
              <a:t>SIKLUS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1631551"/>
            <a:ext cx="49377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 dirty="0">
                <a:solidFill>
                  <a:srgbClr val="FFFFFF"/>
                </a:solidFill>
                <a:latin typeface="Calibri"/>
              </a:rPr>
              <a:t>ASSEMBLY</a:t>
            </a:r>
          </a:p>
          <a:p>
            <a:pPr algn="l"/>
            <a:r>
              <a:rPr sz="5600" b="1" i="0" dirty="0">
                <a:solidFill>
                  <a:srgbClr val="FFFFFF"/>
                </a:solidFill>
                <a:latin typeface="Calibri"/>
              </a:rPr>
              <a:t>TOOL 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47872"/>
            <a:ext cx="4937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AC5DA"/>
                </a:solidFill>
                <a:latin typeface="Calibri"/>
              </a:rPr>
              <a:t>Place Component  ·  Grounded Component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224528"/>
            <a:ext cx="64008" cy="65836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" y="42519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90D9"/>
                </a:solidFill>
                <a:latin typeface="Calibri"/>
              </a:rPr>
              <a:t>MATA PELAJARAN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45262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0"/>
                </a:solidFill>
                <a:latin typeface="Calibri"/>
              </a:rPr>
              <a:t>Gambar Teknik Manufaktur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4224528"/>
            <a:ext cx="64008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53512" y="42519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  <a:latin typeface="Calibri"/>
              </a:rPr>
              <a:t>KELAS / FASE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45262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0"/>
                </a:solidFill>
                <a:latin typeface="Calibri"/>
              </a:rPr>
              <a:t>XI TFLM — Fase 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3892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7788"/>
                </a:solidFill>
                <a:latin typeface="Calibri"/>
              </a:rPr>
              <a:t>Pedagogi Among: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468112"/>
            <a:ext cx="1645920" cy="3657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54864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✦ Ing Ngarsa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1720" y="5468112"/>
            <a:ext cx="164592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23160" y="54864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Ing Madya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5468112"/>
            <a:ext cx="164592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51960" y="548640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Tut Wuri</a:t>
            </a:r>
          </a:p>
        </p:txBody>
      </p:sp>
      <p:pic>
        <p:nvPicPr>
          <p:cNvPr id="27" name="Picture 26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82880"/>
            <a:ext cx="5029200" cy="635508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949440" y="182880"/>
            <a:ext cx="64008" cy="635508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949440" y="6400800"/>
            <a:ext cx="5029200" cy="256032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86600" y="640080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7788"/>
                </a:solidFill>
                <a:latin typeface="Calibri"/>
              </a:rPr>
              <a:t>Referensi: Tool Post Industri — SMK N 2 Depok Sleman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8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30852" y="6675120"/>
            <a:ext cx="201168" cy="914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823460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116068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08676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701284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993892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86500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79108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871716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164324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456932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000232" y="66385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7788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635" y="-9053"/>
            <a:ext cx="6094476" cy="618163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4476" y="0"/>
            <a:ext cx="64008" cy="6493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48794" y="6157082"/>
            <a:ext cx="6094476" cy="384048"/>
          </a:xfrm>
          <a:prstGeom prst="rect">
            <a:avLst/>
          </a:prstGeom>
          <a:solidFill>
            <a:srgbClr val="050F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77356" y="6201352"/>
            <a:ext cx="5850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557788"/>
                </a:solidFill>
                <a:latin typeface="Calibri"/>
              </a:rPr>
              <a:t>Tool Post </a:t>
            </a:r>
            <a:r>
              <a:rPr sz="900" b="0" i="1" dirty="0" err="1">
                <a:solidFill>
                  <a:srgbClr val="557788"/>
                </a:solidFill>
                <a:latin typeface="Calibri"/>
              </a:rPr>
              <a:t>nyata</a:t>
            </a:r>
            <a:r>
              <a:rPr sz="900" b="0" i="1" dirty="0">
                <a:solidFill>
                  <a:srgbClr val="557788"/>
                </a:solidFill>
                <a:latin typeface="Calibri"/>
              </a:rPr>
              <a:t> pada </a:t>
            </a:r>
            <a:r>
              <a:rPr sz="900" b="0" i="1" dirty="0" err="1">
                <a:solidFill>
                  <a:srgbClr val="557788"/>
                </a:solidFill>
                <a:latin typeface="Calibri"/>
              </a:rPr>
              <a:t>mesin</a:t>
            </a:r>
            <a:r>
              <a:rPr sz="900" b="0" i="1" dirty="0">
                <a:solidFill>
                  <a:srgbClr val="557788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7788"/>
                </a:solidFill>
                <a:latin typeface="Calibri"/>
              </a:rPr>
              <a:t>bubut</a:t>
            </a:r>
            <a:r>
              <a:rPr sz="900" b="0" i="1" dirty="0">
                <a:solidFill>
                  <a:srgbClr val="557788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7788"/>
                </a:solidFill>
                <a:latin typeface="Calibri"/>
              </a:rPr>
              <a:t>industri</a:t>
            </a:r>
            <a:endParaRPr sz="900" b="0" i="1" dirty="0">
              <a:solidFill>
                <a:srgbClr val="557788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457200"/>
            <a:ext cx="3840480" cy="40233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9377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❓  PERTANYAAN PEMANTIK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0584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"Jika 1 baut Set Screw</a:t>
            </a:r>
          </a:p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kendur saat mesin bubut</a:t>
            </a:r>
          </a:p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berputar…"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07792"/>
            <a:ext cx="5486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C400"/>
                </a:solidFill>
                <a:latin typeface="Calibri"/>
              </a:rPr>
              <a:t>"…apa yang terjadi</a:t>
            </a:r>
          </a:p>
          <a:p>
            <a:pPr algn="l"/>
            <a:r>
              <a:rPr sz="2200" b="0" i="1">
                <a:solidFill>
                  <a:srgbClr val="FFC400"/>
                </a:solidFill>
                <a:latin typeface="Calibri"/>
              </a:rPr>
              <a:t>pada hasil benda kerja?"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502920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C5DA"/>
                </a:solidFill>
                <a:latin typeface="Calibri"/>
              </a:rPr>
              <a:t>🔩  Tool Post = pemegang pahat pada mesin bubut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8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C5DA"/>
                </a:solidFill>
                <a:latin typeface="Calibri"/>
              </a:rPr>
              <a:t>⚙️  Posisi rakitan menentukan kualitas pemesinan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77840"/>
            <a:ext cx="54864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C5DA"/>
                </a:solidFill>
                <a:latin typeface="Calibri"/>
              </a:rPr>
              <a:t>💻  Hari ini: rakit digital di Autodesk Inventor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8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30852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823460" y="6675120"/>
            <a:ext cx="201168" cy="914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16068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08676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01284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93892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86500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79108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71716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164324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56932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000232" y="66385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7788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81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📁  APA ITU ASSEMBLY? — MENGENAL TIPE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C5DA"/>
                </a:solidFill>
                <a:latin typeface="Calibri"/>
              </a:rPr>
              <a:t>Setiap file punya peran berbeda — namun saling terhubung satu sama lain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3703320" cy="5394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3703320" cy="914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1208" y="1325880"/>
            <a:ext cx="749808" cy="74980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325880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EDF0"/>
                </a:solidFill>
                <a:latin typeface="Calibri"/>
              </a:rPr>
              <a:t>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35608" y="1417320"/>
            <a:ext cx="146304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35608" y="14356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.ipt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40280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Part — Komponen Tunggal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24912"/>
            <a:ext cx="1463040" cy="254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83464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C5DA"/>
                </a:solidFill>
                <a:latin typeface="Calibri"/>
              </a:rPr>
              <a:t>Satu komponen hasil pemodelan 3D.</a:t>
            </a:r>
          </a:p>
          <a:p>
            <a:pPr algn="l"/>
            <a:r>
              <a:rPr sz="1200" b="0" i="0">
                <a:solidFill>
                  <a:srgbClr val="8AC5DA"/>
                </a:solidFill>
                <a:latin typeface="Calibri"/>
              </a:rPr>
              <a:t>Setiap bagian Tool Post memiliki</a:t>
            </a:r>
          </a:p>
          <a:p>
            <a:pPr algn="l"/>
            <a:r>
              <a:rPr sz="1200" b="0" i="0">
                <a:solidFill>
                  <a:srgbClr val="8AC5DA"/>
                </a:solidFill>
                <a:latin typeface="Calibri"/>
              </a:rPr>
              <a:t>file .ipt tersendiri.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224528"/>
            <a:ext cx="3337560" cy="109728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315968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90D9"/>
                </a:solidFill>
                <a:latin typeface="Calibri"/>
              </a:rPr>
              <a:t>Contoh:</a:t>
            </a:r>
          </a:p>
          <a:p>
            <a:pPr algn="l"/>
            <a:r>
              <a:rPr sz="1100" b="0" i="1">
                <a:solidFill>
                  <a:srgbClr val="4A90D9"/>
                </a:solidFill>
                <a:latin typeface="Calibri"/>
              </a:rPr>
              <a:t>Tool_Holder.ipt</a:t>
            </a:r>
          </a:p>
          <a:p>
            <a:pPr algn="l"/>
            <a:r>
              <a:rPr sz="1100" b="0" i="1">
                <a:solidFill>
                  <a:srgbClr val="4A90D9"/>
                </a:solidFill>
                <a:latin typeface="Calibri"/>
              </a:rPr>
              <a:t>Stud.ipt  ·  Set_Screw.ipt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0248" y="1115568"/>
            <a:ext cx="3703320" cy="5394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70248" y="1115568"/>
            <a:ext cx="3703320" cy="914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71416" y="1325880"/>
            <a:ext cx="749808" cy="74980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71416" y="1325880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EDF0"/>
                </a:solidFill>
                <a:latin typeface="Calibri"/>
              </a:rPr>
              <a:t>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85816" y="1417320"/>
            <a:ext cx="1463040" cy="5029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85816" y="14356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.iam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2240280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Assembly — Rakitan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53128" y="2724912"/>
            <a:ext cx="1463040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53128" y="283464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C5DA"/>
                </a:solidFill>
                <a:latin typeface="Calibri"/>
              </a:rPr>
              <a:t>Menggabungkan banyak .ipt menjadi</a:t>
            </a:r>
          </a:p>
          <a:p>
            <a:pPr algn="l"/>
            <a:r>
              <a:rPr sz="1200" b="0" i="0">
                <a:solidFill>
                  <a:srgbClr val="8AC5DA"/>
                </a:solidFill>
                <a:latin typeface="Calibri"/>
              </a:rPr>
              <a:t>satu rakitan utuh 3D.</a:t>
            </a:r>
          </a:p>
          <a:p>
            <a:pPr algn="l"/>
            <a:r>
              <a:rPr sz="1200" b="0" i="0">
                <a:solidFill>
                  <a:srgbClr val="8AC5DA"/>
                </a:solidFill>
                <a:latin typeface="Calibri"/>
              </a:rPr>
              <a:t>Inilah yang kita buat hari ini!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53128" y="4224528"/>
            <a:ext cx="3337560" cy="109728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90288" y="4315968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7722"/>
                </a:solidFill>
                <a:latin typeface="Calibri"/>
              </a:rPr>
              <a:t>★  FILE TARGET P1</a:t>
            </a:r>
          </a:p>
          <a:p>
            <a:pPr algn="l"/>
            <a:r>
              <a:rPr sz="1100" b="0" i="1">
                <a:solidFill>
                  <a:srgbClr val="E87722"/>
                </a:solidFill>
                <a:latin typeface="Calibri"/>
              </a:rPr>
              <a:t>Tool_Post_[Nama].iam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6172200"/>
            <a:ext cx="3703320" cy="3200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61688" y="6190488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⭐  TARGET PERTEMUAN INI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0456" y="1115568"/>
            <a:ext cx="3703320" cy="5394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20456" y="1115568"/>
            <a:ext cx="37033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421624" y="1325880"/>
            <a:ext cx="749808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21624" y="1325880"/>
            <a:ext cx="74980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EDF0"/>
                </a:solidFill>
                <a:latin typeface="Calibri"/>
              </a:rPr>
              <a:t>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36024" y="1417320"/>
            <a:ext cx="146304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336024" y="14356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.idw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2240280"/>
            <a:ext cx="3337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Drawing — Gambar Kerja 2D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03336" y="2724912"/>
            <a:ext cx="146304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03336" y="2834640"/>
            <a:ext cx="3337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C5DA"/>
                </a:solidFill>
                <a:latin typeface="Calibri"/>
              </a:rPr>
              <a:t>Gambar teknik 2D resmi dari model 3D.</a:t>
            </a:r>
          </a:p>
          <a:p>
            <a:pPr algn="l"/>
            <a:r>
              <a:rPr sz="1200" b="0" i="0">
                <a:solidFill>
                  <a:srgbClr val="8AC5DA"/>
                </a:solidFill>
                <a:latin typeface="Calibri"/>
              </a:rPr>
              <a:t>Dibutuhkan operator mesin.</a:t>
            </a:r>
          </a:p>
          <a:p>
            <a:pPr algn="l"/>
            <a:r>
              <a:rPr sz="1200" b="0" i="0">
                <a:solidFill>
                  <a:srgbClr val="8AC5DA"/>
                </a:solidFill>
                <a:latin typeface="Calibri"/>
              </a:rPr>
              <a:t>Dibuat di Pertemuan 3.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03336" y="4224528"/>
            <a:ext cx="3337560" cy="109728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40496" y="4315968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B4D8"/>
                </a:solidFill>
                <a:latin typeface="Calibri"/>
              </a:rPr>
              <a:t>Pertemuan 3</a:t>
            </a:r>
          </a:p>
          <a:p>
            <a:pPr algn="l"/>
            <a:r>
              <a:rPr sz="1100" b="0" i="1">
                <a:solidFill>
                  <a:srgbClr val="00B4D8"/>
                </a:solidFill>
                <a:latin typeface="Calibri"/>
              </a:rPr>
              <a:t>3 Lembar + BOM + PDF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41648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7722"/>
                </a:solidFill>
                <a:latin typeface="Calibri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91856" y="347472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87722"/>
                </a:solidFill>
                <a:latin typeface="Calibri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8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6647688"/>
            <a:ext cx="11274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C400"/>
                </a:solidFill>
                <a:latin typeface="Calibri"/>
              </a:rPr>
              <a:t>💡  Ubah nama file .ipt setelah Assembly dibuat → referensi di .iam akan hilang (missing reference)!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8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30852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823460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116068" y="6675120"/>
            <a:ext cx="201168" cy="914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408676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701284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993892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286500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579108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871716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164324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456932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000232" y="66385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7788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80741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🖥️  TAMPILAN ASSEMBLY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80741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C5DA"/>
                </a:solidFill>
                <a:latin typeface="Calibri"/>
              </a:rPr>
              <a:t>Kenali 4 panel utama sebelum memulai praktik  |  Ing Ngarsa: Guru demonstrasi terlebih dahulu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78992"/>
            <a:ext cx="8092440" cy="54681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1078992"/>
            <a:ext cx="8092440" cy="5468112"/>
          </a:xfrm>
          <a:prstGeom prst="rect">
            <a:avLst/>
          </a:prstGeom>
          <a:noFill/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13648" y="1078992"/>
            <a:ext cx="3364992" cy="126187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13648" y="1078992"/>
            <a:ext cx="64008" cy="126187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59952" y="1261872"/>
            <a:ext cx="621792" cy="62179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9952" y="1261872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EDF0"/>
                </a:solidFill>
                <a:latin typeface="Calibri"/>
              </a:rPr>
              <a:t>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8048" y="11704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Browser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8048" y="15819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90D9"/>
                </a:solidFill>
                <a:latin typeface="Calibri"/>
              </a:rPr>
              <a:t>📍 Kiri layar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8048" y="18562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C5DA"/>
                </a:solidFill>
                <a:latin typeface="Calibri"/>
              </a:rPr>
              <a:t>Hierarki semua komponen yang ditempatkan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13648" y="2450592"/>
            <a:ext cx="3364992" cy="126187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613648" y="2450592"/>
            <a:ext cx="64008" cy="126187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59952" y="2633472"/>
            <a:ext cx="621792" cy="62179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59952" y="2633472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EDF0"/>
                </a:solidFill>
                <a:latin typeface="Calibri"/>
              </a:rPr>
              <a:t>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25420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Assembly Ribbon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29535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7722"/>
                </a:solidFill>
                <a:latin typeface="Calibri"/>
              </a:rPr>
              <a:t>📍 Atas layar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32278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C5DA"/>
                </a:solidFill>
                <a:latin typeface="Calibri"/>
              </a:rPr>
              <a:t>Place, Constraint, Pattern, Mirror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13648" y="3822192"/>
            <a:ext cx="3364992" cy="126187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613648" y="3822192"/>
            <a:ext cx="64008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759952" y="4005072"/>
            <a:ext cx="621792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59952" y="4005072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EDF0"/>
                </a:solidFill>
                <a:latin typeface="Calibri"/>
              </a:rPr>
              <a:t>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39136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Viewport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43251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  <a:latin typeface="Calibri"/>
              </a:rPr>
              <a:t>📍 Tengah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8" y="45994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C5DA"/>
                </a:solidFill>
                <a:latin typeface="Calibri"/>
              </a:rPr>
              <a:t>Area kerja 3D — manipulasi komponen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13648" y="5193792"/>
            <a:ext cx="3364992" cy="126187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613648" y="5193792"/>
            <a:ext cx="64008" cy="12618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759952" y="5376672"/>
            <a:ext cx="621792" cy="621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59952" y="5376672"/>
            <a:ext cx="6217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EDF0"/>
                </a:solidFill>
                <a:latin typeface="Calibri"/>
              </a:rPr>
              <a:t>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52852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Inspect Panel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8048" y="5696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  <a:latin typeface="Calibri"/>
              </a:rPr>
              <a:t>📍 Ribbon kanan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8048" y="59710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C5DA"/>
                </a:solidFill>
                <a:latin typeface="Calibri"/>
              </a:rPr>
              <a:t>Cek Degrees of Freedom (DOF)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8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30852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823460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116068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408676" y="6675120"/>
            <a:ext cx="201168" cy="914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701284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93892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286500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79108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871716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164324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456932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000232" y="66385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7788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315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📦  PLACE COMPONENT — 5 LANGKAH KERJA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C5DA"/>
                </a:solidFill>
                <a:latin typeface="Calibri"/>
              </a:rPr>
              <a:t>Shortcut: P  |  Ing Ngarsa → Demo terlebih dahulu sebelum murid mencoba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598932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64008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438912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2070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Buka tab Assemble → klik Place Component atau tekan  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664208"/>
            <a:ext cx="2926080" cy="237744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0128" y="1691640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B4D8"/>
                </a:solidFill>
                <a:latin typeface="Calibri"/>
              </a:rPr>
              <a:t>↳ keyboard: 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048256"/>
            <a:ext cx="598932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0040" y="2048256"/>
            <a:ext cx="64008" cy="8229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231136"/>
            <a:ext cx="438912" cy="438912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23113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13969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Pilih file .ipt dari folder → klik Open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2596896"/>
            <a:ext cx="2926080" cy="237744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10128" y="2624328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90D9"/>
                </a:solidFill>
                <a:latin typeface="Calibri"/>
              </a:rPr>
              <a:t>↳ dialog terbuka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980944"/>
            <a:ext cx="598932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2980944"/>
            <a:ext cx="64008" cy="8229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3163824"/>
            <a:ext cx="438912" cy="43891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16382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307238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Klik di Viewport untuk menempatkan komponen → Esc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529584"/>
            <a:ext cx="2926080" cy="237744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10128" y="3557016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7722"/>
                </a:solidFill>
                <a:latin typeface="Calibri"/>
              </a:rPr>
              <a:t>↳ drag to place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913632"/>
            <a:ext cx="598932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3913632"/>
            <a:ext cx="64008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2920" y="4096512"/>
            <a:ext cx="438912" cy="43891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40965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0050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Ulangi untuk setiap komponen yang BERBEDA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462272"/>
            <a:ext cx="2926080" cy="237744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10128" y="4489704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B4D8"/>
                </a:solidFill>
                <a:latin typeface="Calibri"/>
              </a:rPr>
              <a:t>↳ 8 komponen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846320"/>
            <a:ext cx="5989320" cy="8229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" y="4846320"/>
            <a:ext cx="64008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2920" y="5029200"/>
            <a:ext cx="438912" cy="43891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502920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937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Komponen SAMA (Set Screw ×8) → klik 8× sebelum Esc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5394960"/>
            <a:ext cx="2926080" cy="237744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10128" y="5422392"/>
            <a:ext cx="2788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CC71"/>
                </a:solidFill>
                <a:latin typeface="Calibri"/>
              </a:rPr>
              <a:t>↳ klik berulang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779008"/>
            <a:ext cx="5989320" cy="713232"/>
          </a:xfrm>
          <a:prstGeom prst="rect">
            <a:avLst/>
          </a:prstGeom>
          <a:solidFill>
            <a:srgbClr val="2A1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" y="5779008"/>
            <a:ext cx="64008" cy="7132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0352" y="5833872"/>
            <a:ext cx="5715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88"/>
                </a:solidFill>
                <a:latin typeface="Calibri"/>
              </a:rPr>
              <a:t>⚠️  Setelah Place Component, semua komponen masih FLOATING (bergerak bebas).</a:t>
            </a:r>
          </a:p>
          <a:p>
            <a:pPr algn="l"/>
            <a:r>
              <a:rPr sz="1100" b="1" i="0">
                <a:solidFill>
                  <a:srgbClr val="FFAA88"/>
                </a:solidFill>
                <a:latin typeface="Calibri"/>
              </a:rPr>
              <a:t>Constraint di Pertemuan 2 yang akan mengunci posisinya!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10528" y="1078992"/>
            <a:ext cx="539496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01968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📸  Dialog Place Component</a:t>
            </a:r>
          </a:p>
        </p:txBody>
      </p:sp>
      <p:pic>
        <p:nvPicPr>
          <p:cNvPr id="47" name="Picture 4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417320"/>
            <a:ext cx="5394960" cy="214884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510528" y="1417320"/>
            <a:ext cx="5394960" cy="2148840"/>
          </a:xfrm>
          <a:prstGeom prst="rect">
            <a:avLst/>
          </a:prstGeom>
          <a:noFill/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510528" y="3703320"/>
            <a:ext cx="539496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01968" y="37216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90D9"/>
                </a:solidFill>
                <a:latin typeface="Calibri"/>
              </a:rPr>
              <a:t>📸  Step-by-Step Place Component</a:t>
            </a:r>
          </a:p>
        </p:txBody>
      </p:sp>
      <p:pic>
        <p:nvPicPr>
          <p:cNvPr id="51" name="Picture 50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4041648"/>
            <a:ext cx="5394960" cy="2487168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6510528" y="4041648"/>
            <a:ext cx="5394960" cy="2487168"/>
          </a:xfrm>
          <a:prstGeom prst="rect">
            <a:avLst/>
          </a:prstGeom>
          <a:noFill/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8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530852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823460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116068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08676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701284" y="6675120"/>
            <a:ext cx="201168" cy="914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993892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286500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579108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871716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7164324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456932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1000232" y="66385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7788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📦  HASIL PLACE COMPONENT — VIEWPORT AUTODESK INVENTOR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C5DA"/>
                </a:solidFill>
                <a:latin typeface="Calibri"/>
              </a:rPr>
              <a:t>Semua 8 komponen sudah di-Place — masih FLOATING, belum ada constraint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5669280" cy="541324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115568"/>
            <a:ext cx="56692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5214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STEP 3 — Komponen pertama di viewport (floating)</a:t>
            </a:r>
          </a:p>
        </p:txBody>
      </p:sp>
      <p:pic>
        <p:nvPicPr>
          <p:cNvPr id="10" name="Picture 9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90472"/>
            <a:ext cx="5486400" cy="42245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1490472"/>
            <a:ext cx="5486400" cy="4224528"/>
          </a:xfrm>
          <a:prstGeom prst="rect">
            <a:avLst/>
          </a:prstGeom>
          <a:noFill/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115568"/>
            <a:ext cx="5669280" cy="541324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115568"/>
            <a:ext cx="5669280" cy="34747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152144"/>
            <a:ext cx="5394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STEP </a:t>
            </a:r>
            <a:r>
              <a:rPr lang="en-ID" sz="1100" b="1" dirty="0">
                <a:solidFill>
                  <a:srgbClr val="FFFFFF"/>
                </a:solidFill>
                <a:latin typeface="Calibri"/>
              </a:rPr>
              <a:t>4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1100" b="1" i="0" dirty="0" err="1">
                <a:solidFill>
                  <a:srgbClr val="FFFFFF"/>
                </a:solidFill>
                <a:latin typeface="Calibri"/>
              </a:rPr>
              <a:t>Semua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8 </a:t>
            </a:r>
            <a:r>
              <a:rPr sz="1100" b="1" i="0" dirty="0" err="1">
                <a:solidFill>
                  <a:srgbClr val="FFFFFF"/>
                </a:solidFill>
                <a:latin typeface="Calibri"/>
              </a:rPr>
              <a:t>komponen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Calibri"/>
              </a:rPr>
              <a:t>sudah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di-place</a:t>
            </a:r>
          </a:p>
        </p:txBody>
      </p:sp>
      <p:pic>
        <p:nvPicPr>
          <p:cNvPr id="15" name="Picture 14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90472"/>
            <a:ext cx="5486400" cy="422452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355080" y="1490472"/>
            <a:ext cx="5486400" cy="4224528"/>
          </a:xfrm>
          <a:prstGeom prst="rect">
            <a:avLst/>
          </a:prstGeom>
          <a:noFill/>
          <a:ln w="2540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5943" y="6283286"/>
            <a:ext cx="12188952" cy="384048"/>
          </a:xfrm>
          <a:prstGeom prst="rect">
            <a:avLst/>
          </a:prstGeom>
          <a:solidFill>
            <a:srgbClr val="0E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136" y="6336792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2ECC71"/>
                </a:solidFill>
                <a:latin typeface="Calibri"/>
              </a:rPr>
              <a:t>✅  Checklist </a:t>
            </a:r>
            <a:r>
              <a:rPr sz="1200" b="1" i="0" dirty="0" err="1">
                <a:solidFill>
                  <a:srgbClr val="2ECC71"/>
                </a:solidFill>
                <a:latin typeface="Calibri"/>
              </a:rPr>
              <a:t>langkah</a:t>
            </a:r>
            <a:r>
              <a:rPr sz="1200" b="1" i="0" dirty="0">
                <a:solidFill>
                  <a:srgbClr val="2ECC71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2ECC71"/>
                </a:solidFill>
                <a:latin typeface="Calibri"/>
              </a:rPr>
              <a:t>ini</a:t>
            </a:r>
            <a:r>
              <a:rPr sz="1200" b="1" i="0" dirty="0">
                <a:solidFill>
                  <a:srgbClr val="2ECC71"/>
                </a:solidFill>
                <a:latin typeface="Calibri"/>
              </a:rPr>
              <a:t>:   8 </a:t>
            </a:r>
            <a:r>
              <a:rPr sz="1200" b="1" i="0" dirty="0" err="1">
                <a:solidFill>
                  <a:srgbClr val="2ECC71"/>
                </a:solidFill>
                <a:latin typeface="Calibri"/>
              </a:rPr>
              <a:t>komponen</a:t>
            </a:r>
            <a:r>
              <a:rPr sz="1200" b="1" i="0" dirty="0">
                <a:solidFill>
                  <a:srgbClr val="2ECC71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2ECC71"/>
                </a:solidFill>
                <a:latin typeface="Calibri"/>
              </a:rPr>
              <a:t>muncul</a:t>
            </a:r>
            <a:r>
              <a:rPr sz="1200" b="1" i="0" dirty="0">
                <a:solidFill>
                  <a:srgbClr val="2ECC71"/>
                </a:solidFill>
                <a:latin typeface="Calibri"/>
              </a:rPr>
              <a:t> di Browser Panel   ·   </a:t>
            </a:r>
            <a:r>
              <a:rPr sz="1200" b="1" i="0" dirty="0" err="1">
                <a:solidFill>
                  <a:srgbClr val="2ECC71"/>
                </a:solidFill>
                <a:latin typeface="Calibri"/>
              </a:rPr>
              <a:t>Siap</a:t>
            </a:r>
            <a:r>
              <a:rPr sz="1200" b="1" i="0" dirty="0">
                <a:solidFill>
                  <a:srgbClr val="2ECC71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2ECC71"/>
                </a:solidFill>
                <a:latin typeface="Calibri"/>
              </a:rPr>
              <a:t>lanjut</a:t>
            </a:r>
            <a:r>
              <a:rPr sz="1200" b="1" i="0" dirty="0">
                <a:solidFill>
                  <a:srgbClr val="2ECC71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2ECC71"/>
                </a:solidFill>
                <a:latin typeface="Calibri"/>
              </a:rPr>
              <a:t>ke</a:t>
            </a:r>
            <a:r>
              <a:rPr sz="1200" b="1" i="0" dirty="0">
                <a:solidFill>
                  <a:srgbClr val="2ECC71"/>
                </a:solidFill>
                <a:latin typeface="Calibri"/>
              </a:rPr>
              <a:t> Grounded   ·   File .</a:t>
            </a:r>
            <a:r>
              <a:rPr sz="1200" b="1" i="0" dirty="0" err="1">
                <a:solidFill>
                  <a:srgbClr val="2ECC71"/>
                </a:solidFill>
                <a:latin typeface="Calibri"/>
              </a:rPr>
              <a:t>iam</a:t>
            </a:r>
            <a:r>
              <a:rPr sz="1200" b="1" i="0" dirty="0">
                <a:solidFill>
                  <a:srgbClr val="2ECC71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2ECC71"/>
                </a:solidFill>
                <a:latin typeface="Calibri"/>
              </a:rPr>
              <a:t>tersimpan</a:t>
            </a:r>
            <a:endParaRPr sz="1200" b="1" i="0" dirty="0">
              <a:solidFill>
                <a:srgbClr val="2ECC71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8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30852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23460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16068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08676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701284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93892" y="6675120"/>
            <a:ext cx="201168" cy="914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86500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79108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71716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164324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456932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000232" y="66385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7788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45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📌  GROUNDED COMPONENT — REFERENSI TETAP RAKITAN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C5DA"/>
                </a:solidFill>
                <a:latin typeface="Calibri"/>
              </a:rPr>
              <a:t>Ing Ngarsa: Guru jelaskan konsep  →  Ing Madya: Demo bersama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5257800" cy="199339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64008" cy="19933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133856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📌  Definisi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536192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C5DA"/>
                </a:solidFill>
                <a:latin typeface="Calibri"/>
              </a:rPr>
              <a:t>Komponen yang dikunci posisi absolutnya — tidak bisa dipindahkan ke mana pun. Berfungsi sebagai "jangkar" bagi seluruh rakitan. Semua constraint mengacu padanya.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182112"/>
            <a:ext cx="5257800" cy="13258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3182112"/>
            <a:ext cx="64008" cy="1325880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3236976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400"/>
                </a:solidFill>
                <a:latin typeface="Calibri"/>
              </a:rPr>
              <a:t>💡  ANALOGI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611880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EDF0"/>
                </a:solidFill>
                <a:latin typeface="Calibri"/>
              </a:rPr>
              <a:t>"Merakit meja: papan meja diletakkan dulu → baru kaki dipasang. Papan meja = Grounded Component."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617720"/>
            <a:ext cx="5257800" cy="199339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" y="4617720"/>
            <a:ext cx="64008" cy="1993392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4681728"/>
            <a:ext cx="4892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722"/>
                </a:solidFill>
                <a:latin typeface="Calibri"/>
              </a:rPr>
              <a:t>❓  Kenapa Tool Holder yang di-Ground?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1206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C5DA"/>
                </a:solidFill>
                <a:latin typeface="Calibri"/>
              </a:rPr>
              <a:t>🔩  Tool Holder = badan utama (frame) Tool 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50468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C5DA"/>
                </a:solidFill>
                <a:latin typeface="Calibri"/>
              </a:rPr>
              <a:t>🔧  Semua komponen lain TERPASANG padanya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88873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C5DA"/>
                </a:solidFill>
                <a:latin typeface="Calibri"/>
              </a:rPr>
              <a:t>⚙️   Secara logis mekanik — dialah yang diam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2727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C5DA"/>
                </a:solidFill>
                <a:latin typeface="Calibri"/>
              </a:rPr>
              <a:t>📐  Grounded lainnya → hierarki constraint kacau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1078992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CARA MENETAPKAN GROUNDED: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33872" y="1572768"/>
            <a:ext cx="6035040" cy="1051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33872" y="1572768"/>
            <a:ext cx="64008" cy="10515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89320" y="1801368"/>
            <a:ext cx="50292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89320" y="18013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1682496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Klik kanan Tool_Holder di Browser Panel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219456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CC71"/>
                </a:solidFill>
                <a:latin typeface="Calibri"/>
              </a:rPr>
              <a:t>↳ menu konteks muncul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2624328"/>
            <a:ext cx="64008" cy="1371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33872" y="2761488"/>
            <a:ext cx="6035040" cy="1051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33872" y="2761488"/>
            <a:ext cx="64008" cy="10515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89320" y="2990088"/>
            <a:ext cx="50292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89320" y="29900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2" y="2871216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Pilih "Grounded" dari menu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2" y="338328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D8"/>
                </a:solidFill>
                <a:latin typeface="Calibri"/>
              </a:rPr>
              <a:t>↳ satu klik saja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4768" y="3813048"/>
            <a:ext cx="64008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833872" y="3950208"/>
            <a:ext cx="6035040" cy="1051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833872" y="3950208"/>
            <a:ext cx="64008" cy="10515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89320" y="4178808"/>
            <a:ext cx="50292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89320" y="4178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6832" y="4059936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Tanda 📌 muncul di Browser Panel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6832" y="457200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90D9"/>
                </a:solidFill>
                <a:latin typeface="Calibri"/>
              </a:rPr>
              <a:t>↳ konfirmasi berhasil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44768" y="5001768"/>
            <a:ext cx="64008" cy="1371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833872" y="5138928"/>
            <a:ext cx="6035040" cy="1051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833872" y="5138928"/>
            <a:ext cx="64008" cy="10515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989320" y="5367528"/>
            <a:ext cx="50292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89320" y="5367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56832" y="5248656"/>
            <a:ext cx="5074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Tool Holder tidak bisa di-drag lagi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56832" y="5760720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CC71"/>
                </a:solidFill>
                <a:latin typeface="Calibri"/>
              </a:rPr>
              <a:t>↳ posisi terkunci 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8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530852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823460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116068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408676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701284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993892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286500" y="6675120"/>
            <a:ext cx="201168" cy="914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579108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871716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164324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456932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000232" y="66385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7788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📌  GROUNDED — KONFIRMASI HASIL DI AUTODESK INVENTOR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C5DA"/>
                </a:solidFill>
                <a:latin typeface="Calibri"/>
              </a:rPr>
              <a:t>Perhatikan tanda 📌 di Browser Panel — ini tanda bahwa Grounded berhasil diterapkan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777240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Calibri"/>
              </a:rPr>
              <a:t>📸  Viewport — setelah Grounded diterapkan</a:t>
            </a:r>
          </a:p>
        </p:txBody>
      </p:sp>
      <p:pic>
        <p:nvPicPr>
          <p:cNvPr id="9" name="Picture 8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44752"/>
            <a:ext cx="7772400" cy="455371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20040" y="1444752"/>
            <a:ext cx="7772400" cy="4553712"/>
          </a:xfrm>
          <a:prstGeom prst="rect">
            <a:avLst/>
          </a:prstGeom>
          <a:noFill/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040" y="6080760"/>
            <a:ext cx="502920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1173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CC71"/>
                </a:solidFill>
                <a:latin typeface="Calibri"/>
              </a:rPr>
              <a:t>📸  Browser Panel — tanda 📌 muncul di Tool_Holder</a:t>
            </a:r>
          </a:p>
        </p:txBody>
      </p:sp>
      <p:pic>
        <p:nvPicPr>
          <p:cNvPr id="13" name="Picture 12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455664"/>
            <a:ext cx="3474720" cy="3657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302752" y="1078992"/>
            <a:ext cx="3675887" cy="349300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02752" y="1078992"/>
            <a:ext cx="64008" cy="3493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85632" y="114300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👁  Yang Perlu Diperhatikan: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160020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C5DA"/>
                </a:solidFill>
                <a:latin typeface="Calibri"/>
              </a:rPr>
              <a:t>📌 Tanda pin = Grounded berhasil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0391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C5DA"/>
                </a:solidFill>
                <a:latin typeface="Calibri"/>
              </a:rPr>
              <a:t>Tool Holder tidak bisa di-drag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47802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C5DA"/>
                </a:solidFill>
                <a:latin typeface="Calibri"/>
              </a:rPr>
              <a:t>Warna normal (tidak merah)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91693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C5DA"/>
                </a:solidFill>
                <a:latin typeface="Calibri"/>
              </a:rPr>
              <a:t>Tool Holder = parent di Browser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335584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C5DA"/>
                </a:solidFill>
                <a:latin typeface="Calibri"/>
              </a:rPr>
              <a:t>Komponen lain masih floating 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4681728"/>
            <a:ext cx="3675887" cy="1874519"/>
          </a:xfrm>
          <a:prstGeom prst="rect">
            <a:avLst/>
          </a:prstGeom>
          <a:solidFill>
            <a:srgbClr val="2A1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02752" y="4681728"/>
            <a:ext cx="64008" cy="1874519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85632" y="475488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⚠️  Jika Tanda 📌 Tidak Muncul: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519379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88"/>
                </a:solidFill>
                <a:latin typeface="Calibri"/>
              </a:rPr>
              <a:t>→ Ulangi klik kanan → Grounded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563270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88"/>
                </a:solidFill>
                <a:latin typeface="Calibri"/>
              </a:rPr>
              <a:t>→ Klik NAMA, bukan icon komponen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607161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88"/>
                </a:solidFill>
                <a:latin typeface="Calibri"/>
              </a:rPr>
              <a:t>→ Pastikan file .ipt tidak read-only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37743"/>
            <a:ext cx="12188952" cy="384048"/>
          </a:xfrm>
          <a:prstGeom prst="rect">
            <a:avLst/>
          </a:prstGeom>
          <a:solidFill>
            <a:srgbClr val="0E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402834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2ECC71"/>
                </a:solidFill>
                <a:latin typeface="Calibri"/>
              </a:rPr>
              <a:t>✅  CHECKLIST P1:   8 </a:t>
            </a:r>
            <a:r>
              <a:rPr sz="1200" b="1" i="0" dirty="0" err="1">
                <a:solidFill>
                  <a:srgbClr val="2ECC71"/>
                </a:solidFill>
                <a:latin typeface="Calibri"/>
              </a:rPr>
              <a:t>komponen</a:t>
            </a:r>
            <a:r>
              <a:rPr sz="1200" b="1" i="0" dirty="0">
                <a:solidFill>
                  <a:srgbClr val="2ECC71"/>
                </a:solidFill>
                <a:latin typeface="Calibri"/>
              </a:rPr>
              <a:t> di Browser   ·   Tool Holder = 📌 Grounded   ·   File .</a:t>
            </a:r>
            <a:r>
              <a:rPr sz="1200" b="1" i="0" dirty="0" err="1">
                <a:solidFill>
                  <a:srgbClr val="2ECC71"/>
                </a:solidFill>
                <a:latin typeface="Calibri"/>
              </a:rPr>
              <a:t>iam</a:t>
            </a:r>
            <a:r>
              <a:rPr sz="1200" b="1" i="0" dirty="0">
                <a:solidFill>
                  <a:srgbClr val="2ECC71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2ECC71"/>
                </a:solidFill>
                <a:latin typeface="Calibri"/>
              </a:rPr>
              <a:t>tersimpan</a:t>
            </a:r>
            <a:r>
              <a:rPr sz="1200" b="1" i="0" dirty="0">
                <a:solidFill>
                  <a:srgbClr val="2ECC71"/>
                </a:solidFill>
                <a:latin typeface="Calibri"/>
              </a:rPr>
              <a:t>: </a:t>
            </a:r>
            <a:r>
              <a:rPr sz="1200" b="1" i="0" dirty="0" err="1">
                <a:solidFill>
                  <a:srgbClr val="2ECC71"/>
                </a:solidFill>
                <a:latin typeface="Calibri"/>
              </a:rPr>
              <a:t>Tool_Post</a:t>
            </a:r>
            <a:r>
              <a:rPr sz="1200" b="1" i="0" dirty="0">
                <a:solidFill>
                  <a:srgbClr val="2ECC71"/>
                </a:solidFill>
                <a:latin typeface="Calibri"/>
              </a:rPr>
              <a:t>_[Nama].</a:t>
            </a:r>
            <a:r>
              <a:rPr sz="1200" b="1" i="0" dirty="0" err="1">
                <a:solidFill>
                  <a:srgbClr val="2ECC71"/>
                </a:solidFill>
                <a:latin typeface="Calibri"/>
              </a:rPr>
              <a:t>iam</a:t>
            </a:r>
            <a:endParaRPr sz="1200" b="1" i="0" dirty="0">
              <a:solidFill>
                <a:srgbClr val="2ECC71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8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30852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823460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116068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08676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01284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93892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86500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79108" y="6675120"/>
            <a:ext cx="201168" cy="914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871716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164324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456932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000232" y="66385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7788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🔩  8 KOMPONEN TOOL POST — REFERENSI LENGKAP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C5DA"/>
                </a:solidFill>
                <a:latin typeface="Calibri"/>
              </a:rPr>
              <a:t>Pastikan semua file .ipt sudah di-download dari Google Classroom sebelum memulai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5715000" cy="11887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64008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35024"/>
            <a:ext cx="594360" cy="5943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335024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17043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Tool Holder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1645920"/>
            <a:ext cx="1188720" cy="32004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16733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87722"/>
                </a:solidFill>
                <a:latin typeface="Calibri"/>
              </a:rPr>
              <a:t>Tool_Holder.ipt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609344"/>
            <a:ext cx="530352" cy="38404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51760" y="1627632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×1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118872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C5DA"/>
                </a:solidFill>
                <a:latin typeface="Calibri"/>
              </a:rPr>
              <a:t>Badan utama / frame — referensi tetap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011680"/>
            <a:ext cx="5715000" cy="237744"/>
          </a:xfrm>
          <a:prstGeom prst="rect">
            <a:avLst/>
          </a:prstGeom>
          <a:solidFill>
            <a:srgbClr val="3A2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029968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400"/>
                </a:solidFill>
                <a:latin typeface="Calibri"/>
              </a:rPr>
              <a:t>⭐  GROUNDED COMPONENT — jangkar seluruh rakitan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377440"/>
            <a:ext cx="5715000" cy="11887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" y="2377440"/>
            <a:ext cx="64008" cy="1188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2633472"/>
            <a:ext cx="594360" cy="5943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6334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46888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Base Plate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0160" y="2944368"/>
            <a:ext cx="1188720" cy="32004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25880" y="29718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90D9"/>
                </a:solidFill>
                <a:latin typeface="Calibri"/>
              </a:rPr>
              <a:t>Base_PlatB.ipt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2907792"/>
            <a:ext cx="530352" cy="38404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51760" y="2926080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×1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9272" y="2487168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C5DA"/>
                </a:solidFill>
                <a:latin typeface="Calibri"/>
              </a:rPr>
              <a:t>Landasan bawah ke compound rest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675888"/>
            <a:ext cx="5715000" cy="11887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3675888"/>
            <a:ext cx="64008" cy="1188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3931920"/>
            <a:ext cx="594360" cy="5943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9319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76732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Stud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0160" y="4242816"/>
            <a:ext cx="1188720" cy="32004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25880" y="42702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A90D9"/>
                </a:solidFill>
                <a:latin typeface="Calibri"/>
              </a:rPr>
              <a:t>Stud.ipt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4206240"/>
            <a:ext cx="530352" cy="38404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51760" y="4224528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×1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9272" y="3785616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C5DA"/>
                </a:solidFill>
                <a:latin typeface="Calibri"/>
              </a:rPr>
              <a:t>Penghubung vertikal Base → Clamping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974336"/>
            <a:ext cx="5715000" cy="11887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" y="4974336"/>
            <a:ext cx="6400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02920" y="5230368"/>
            <a:ext cx="59436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52303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5065776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Clamping Nut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80160" y="5541264"/>
            <a:ext cx="1188720" cy="32004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325880" y="55686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B4D8"/>
                </a:solidFill>
                <a:latin typeface="Calibri"/>
              </a:rPr>
              <a:t>Clamping_Nut.ipt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51760" y="5504688"/>
            <a:ext cx="530352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651760" y="5522976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×1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9272" y="5084064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C5DA"/>
                </a:solidFill>
                <a:latin typeface="Calibri"/>
              </a:rPr>
              <a:t>Mur pengikat Tool Holder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1078992"/>
            <a:ext cx="5715000" cy="11887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309360" y="1078992"/>
            <a:ext cx="6400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92240" y="1335024"/>
            <a:ext cx="59436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92240" y="1335024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9480" y="117043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Handle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69480" y="1645920"/>
            <a:ext cx="1188720" cy="32004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315200" y="16733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B4D8"/>
                </a:solidFill>
                <a:latin typeface="Calibri"/>
              </a:rPr>
              <a:t>HandlB.ipt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41080" y="1609344"/>
            <a:ext cx="530352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641080" y="1627632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×1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08592" y="118872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C5DA"/>
                </a:solidFill>
                <a:latin typeface="Calibri"/>
              </a:rPr>
              <a:t>Pegangan putar — kunci / lepas pahat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2377440"/>
            <a:ext cx="5715000" cy="11887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309360" y="2377440"/>
            <a:ext cx="64008" cy="1188720"/>
          </a:xfrm>
          <a:prstGeom prst="rect">
            <a:avLst/>
          </a:prstGeom>
          <a:solidFill>
            <a:srgbClr val="8AC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492240" y="2633472"/>
            <a:ext cx="594360" cy="594360"/>
          </a:xfrm>
          <a:prstGeom prst="rect">
            <a:avLst/>
          </a:prstGeom>
          <a:solidFill>
            <a:srgbClr val="8AC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92240" y="263347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69480" y="246888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Knob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69480" y="2944368"/>
            <a:ext cx="1188720" cy="32004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315200" y="297180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C5DA"/>
                </a:solidFill>
                <a:latin typeface="Calibri"/>
              </a:rPr>
              <a:t>Knob.ipt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41080" y="2907792"/>
            <a:ext cx="530352" cy="384048"/>
          </a:xfrm>
          <a:prstGeom prst="rect">
            <a:avLst/>
          </a:prstGeom>
          <a:solidFill>
            <a:srgbClr val="8AC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641080" y="2926080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×1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08592" y="2487168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C5DA"/>
                </a:solidFill>
                <a:latin typeface="Calibri"/>
              </a:rPr>
              <a:t>Penyetel ketinggian pahat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09360" y="3675888"/>
            <a:ext cx="5715000" cy="11887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309360" y="3675888"/>
            <a:ext cx="64008" cy="1188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492240" y="3931920"/>
            <a:ext cx="594360" cy="5943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92240" y="39319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69480" y="376732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Set Screw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69480" y="4242816"/>
            <a:ext cx="1188720" cy="32004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315200" y="427024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74C3C"/>
                </a:solidFill>
                <a:latin typeface="Calibri"/>
              </a:rPr>
              <a:t>Set_Screw.ipt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641080" y="4206240"/>
            <a:ext cx="530352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641080" y="4224528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×8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08592" y="3785616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C5DA"/>
                </a:solidFill>
                <a:latin typeface="Calibri"/>
              </a:rPr>
              <a:t>Pengikat pahat — 4 sisi × 2 baut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309360" y="4974336"/>
            <a:ext cx="5715000" cy="11887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309360" y="4974336"/>
            <a:ext cx="64008" cy="1188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6492240" y="5230368"/>
            <a:ext cx="594360" cy="5943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92240" y="52303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69480" y="5065776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Grub Screw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269480" y="5541264"/>
            <a:ext cx="1188720" cy="320040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315200" y="556869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74C3C"/>
                </a:solidFill>
                <a:latin typeface="Calibri"/>
              </a:rPr>
              <a:t>Grub_Screw.ipt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641080" y="5504688"/>
            <a:ext cx="530352" cy="38404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641080" y="5522976"/>
            <a:ext cx="5303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×4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08592" y="5084064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C5DA"/>
                </a:solidFill>
                <a:latin typeface="Calibri"/>
              </a:rPr>
              <a:t>Baut tanam penguat posisi</a:t>
            </a:r>
          </a:p>
        </p:txBody>
      </p:sp>
      <p:pic>
        <p:nvPicPr>
          <p:cNvPr id="89" name="Picture 88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78992"/>
            <a:ext cx="5596128" cy="5074920"/>
          </a:xfrm>
          <a:prstGeom prst="rect">
            <a:avLst/>
          </a:prstGeom>
        </p:spPr>
      </p:pic>
      <p:sp>
        <p:nvSpPr>
          <p:cNvPr id="90" name="Rectangle 89"/>
          <p:cNvSpPr/>
          <p:nvPr/>
        </p:nvSpPr>
        <p:spPr>
          <a:xfrm>
            <a:off x="6309360" y="1078992"/>
            <a:ext cx="5596128" cy="5074920"/>
          </a:xfrm>
          <a:prstGeom prst="rect">
            <a:avLst/>
          </a:prstGeom>
          <a:noFill/>
          <a:ln w="1905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309360" y="6199632"/>
            <a:ext cx="5596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57788"/>
                </a:solidFill>
                <a:latin typeface="Calibri"/>
              </a:rPr>
              <a:t>📸 Gambar referensi: Tool Post Assembly + BOM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8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530852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823460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5116068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5408676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5701284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5993892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6286500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6579108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6871716" y="6675120"/>
            <a:ext cx="201168" cy="914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7164324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7456932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1000232" y="66385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7788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📄  GAMBAR REFERENSI — TARGET HASIL AKHIR SIKLUS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9144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C5DA"/>
                </a:solidFill>
                <a:latin typeface="Calibri"/>
              </a:rPr>
              <a:t>SMK Negeri 2 Depok Sleman — inilah yang harus kamu hasilkan di P3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5715000" cy="565099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78992"/>
            <a:ext cx="5715000" cy="38404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11155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LEMBAR 1 — Assembly View + BOM + Balloon</a:t>
            </a:r>
          </a:p>
        </p:txBody>
      </p:sp>
      <p:pic>
        <p:nvPicPr>
          <p:cNvPr id="10" name="Picture 9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90472"/>
            <a:ext cx="5532120" cy="44988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11480" y="1490472"/>
            <a:ext cx="5532120" cy="4498848"/>
          </a:xfrm>
          <a:prstGeom prst="rect">
            <a:avLst/>
          </a:prstGeom>
          <a:noFill/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6053328"/>
            <a:ext cx="5715000" cy="475488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60807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90D9"/>
                </a:solidFill>
                <a:latin typeface="Calibri"/>
              </a:rPr>
              <a:t>Tampak 3D isometrik + daftar komponen (BOM) + nomor Balloon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81928" y="1078992"/>
            <a:ext cx="5715000" cy="5650992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81928" y="1078992"/>
            <a:ext cx="571500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1155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LEMBAR 2 — Section View + Detail + Dimensi</a:t>
            </a:r>
          </a:p>
        </p:txBody>
      </p:sp>
      <p:pic>
        <p:nvPicPr>
          <p:cNvPr id="17" name="Picture 16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1490472"/>
            <a:ext cx="5532120" cy="449884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6373368" y="1490472"/>
            <a:ext cx="5532120" cy="4498848"/>
          </a:xfrm>
          <a:prstGeom prst="rect">
            <a:avLst/>
          </a:prstGeom>
          <a:noFill/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81928" y="6053328"/>
            <a:ext cx="5715000" cy="475488"/>
          </a:xfrm>
          <a:prstGeom prst="rect">
            <a:avLst/>
          </a:prstGeom>
          <a:solidFill>
            <a:srgbClr val="0A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60807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B4D8"/>
                </a:solidFill>
                <a:latin typeface="Calibri"/>
              </a:rPr>
              <a:t>Tampak irisan potongan + dimensi toleransi + spesifikasi material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8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638544"/>
            <a:ext cx="112745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7788"/>
                </a:solidFill>
                <a:latin typeface="Calibri"/>
              </a:rPr>
              <a:t>📁  Download di Google Classroom → Topik "Siklus 1 — Referensi PDF"  |  Sudah tersedia sebelum P1 dimulai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8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30852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23460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116068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08676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01284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93892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86500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79108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71716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164324" y="6675120"/>
            <a:ext cx="201168" cy="914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456932" y="6675120"/>
            <a:ext cx="201168" cy="91440"/>
          </a:xfrm>
          <a:prstGeom prst="rect">
            <a:avLst/>
          </a:prstGeom>
          <a:solidFill>
            <a:srgbClr val="55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000232" y="66385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7788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8686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🎯  RECAP, EXIT TICKET &amp; TUGAS MANDIRI — PERTEMUAN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2648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C5DA"/>
                </a:solidFill>
                <a:latin typeface="Calibri"/>
              </a:rPr>
              <a:t>Tut Wuri Handayani: Guru mendorong murid merefleksikan hasil belajar secara mandiri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41832"/>
            <a:ext cx="12188952" cy="127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051560"/>
            <a:ext cx="5394960" cy="5577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051560"/>
            <a:ext cx="64008" cy="5577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1155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  <a:latin typeface="Calibri"/>
              </a:rPr>
              <a:t>📋  Yang Dipelajari Hari Ini: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4983480" cy="190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0352" y="1664208"/>
            <a:ext cx="384048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166420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EDF0"/>
                </a:solidFill>
                <a:latin typeface="Calibri"/>
              </a:rPr>
              <a:t>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170078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0"/>
                </a:solidFill>
                <a:latin typeface="Calibri"/>
              </a:rPr>
              <a:t>Assembly Environment — 4 panel utama Autodesk Inventor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139696"/>
            <a:ext cx="498348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0352" y="2331720"/>
            <a:ext cx="384048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23317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EDF0"/>
                </a:solidFill>
                <a:latin typeface="Calibri"/>
              </a:rPr>
              <a:t>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36829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0"/>
                </a:solidFill>
                <a:latin typeface="Calibri"/>
              </a:rPr>
              <a:t>File .iam vs .ipt vs .idw — masing-masing beda fungsi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2807208"/>
            <a:ext cx="498348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0352" y="2999232"/>
            <a:ext cx="384048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29992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EDF0"/>
                </a:solidFill>
                <a:latin typeface="Calibri"/>
              </a:rPr>
              <a:t>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0358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0"/>
                </a:solidFill>
                <a:latin typeface="Calibri"/>
              </a:rPr>
              <a:t>Place Component (P) — cara memasukkan 8 komponen .ipt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3474720"/>
            <a:ext cx="498348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0352" y="3666744"/>
            <a:ext cx="384048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6667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EDF0"/>
                </a:solidFill>
                <a:latin typeface="Calibri"/>
              </a:rPr>
              <a:t>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7033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0"/>
                </a:solidFill>
                <a:latin typeface="Calibri"/>
              </a:rPr>
              <a:t>Grounded Component — Tool Holder sebagai jangkar rakitan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4142232"/>
            <a:ext cx="498348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30352" y="4334256"/>
            <a:ext cx="384048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352" y="433425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EDF0"/>
                </a:solidFill>
                <a:latin typeface="Calibri"/>
              </a:rPr>
              <a:t>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3708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0"/>
                </a:solidFill>
                <a:latin typeface="Calibri"/>
              </a:rPr>
              <a:t>Grounded aktif → tanda 📌 → semua constraint stabil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" y="4809744"/>
            <a:ext cx="498348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30352" y="5001768"/>
            <a:ext cx="384048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0352" y="50017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8EDF0"/>
                </a:solidFill>
                <a:latin typeface="Calibri"/>
              </a:rPr>
              <a:t>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03834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0"/>
                </a:solidFill>
                <a:latin typeface="Calibri"/>
              </a:rPr>
              <a:t>File .iam tersimpan: Tool_Post_[NamaKamu].iam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" y="5477256"/>
            <a:ext cx="4983480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897880" y="1051560"/>
            <a:ext cx="6016752" cy="3090672"/>
          </a:xfrm>
          <a:prstGeom prst="rect">
            <a:avLst/>
          </a:prstGeom>
          <a:solidFill>
            <a:srgbClr val="0E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897880" y="1051560"/>
            <a:ext cx="64008" cy="3090672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80760" y="1115568"/>
            <a:ext cx="2926080" cy="384048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115214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41E"/>
                </a:solidFill>
                <a:latin typeface="Calibri"/>
              </a:rPr>
              <a:t>❓  EXIT TICKET — 5 MENIT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1572768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C5DA"/>
                </a:solidFill>
                <a:latin typeface="Calibri"/>
              </a:rPr>
              <a:t>Jawab di Google Form / kertas sebelum pulang: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196596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FFFFFF"/>
                </a:solidFill>
                <a:latin typeface="Calibri"/>
              </a:rPr>
              <a:t>"Mengapa Tool Holder harus dijadikan Grounded Component, bukan Stud atau Base Plate?"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97880" y="4251960"/>
            <a:ext cx="6016752" cy="23957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897880" y="4251960"/>
            <a:ext cx="64008" cy="23957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80760" y="431596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90D9"/>
                </a:solidFill>
                <a:latin typeface="Calibri"/>
              </a:rPr>
              <a:t>📚  Tugas Mandiri Sebelum P2: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477316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8AC5DA"/>
                </a:solidFill>
                <a:latin typeface="Calibri"/>
              </a:rPr>
              <a:t>▶  Tonton video tutorial Constraint di Google Classroom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527608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8AC5DA"/>
                </a:solidFill>
                <a:latin typeface="Calibri"/>
              </a:rPr>
              <a:t>📖  Baca Bahan Ajar </a:t>
            </a:r>
            <a:r>
              <a:rPr sz="1200" b="0" i="0" dirty="0" err="1">
                <a:solidFill>
                  <a:srgbClr val="8AC5DA"/>
                </a:solidFill>
                <a:latin typeface="Calibri"/>
              </a:rPr>
              <a:t>bagian</a:t>
            </a:r>
            <a:r>
              <a:rPr sz="1200" b="0" i="0" dirty="0">
                <a:solidFill>
                  <a:srgbClr val="8AC5DA"/>
                </a:solidFill>
                <a:latin typeface="Calibri"/>
              </a:rPr>
              <a:t> D — 4 Jenis Constraint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577900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8AC5DA"/>
                </a:solidFill>
                <a:latin typeface="Calibri"/>
              </a:rPr>
              <a:t>💾  </a:t>
            </a:r>
            <a:r>
              <a:rPr sz="1200" b="0" i="0" dirty="0" err="1">
                <a:solidFill>
                  <a:srgbClr val="8AC5DA"/>
                </a:solidFill>
                <a:latin typeface="Calibri"/>
              </a:rPr>
              <a:t>Simpan</a:t>
            </a:r>
            <a:r>
              <a:rPr sz="1200" b="0" i="0" dirty="0">
                <a:solidFill>
                  <a:srgbClr val="8AC5DA"/>
                </a:solidFill>
                <a:latin typeface="Calibri"/>
              </a:rPr>
              <a:t> .</a:t>
            </a:r>
            <a:r>
              <a:rPr sz="1200" b="0" i="0" dirty="0" err="1">
                <a:solidFill>
                  <a:srgbClr val="8AC5DA"/>
                </a:solidFill>
                <a:latin typeface="Calibri"/>
              </a:rPr>
              <a:t>iam</a:t>
            </a:r>
            <a:r>
              <a:rPr sz="1200" b="0" i="0" dirty="0">
                <a:solidFill>
                  <a:srgbClr val="8AC5DA"/>
                </a:solidFill>
                <a:latin typeface="Calibri"/>
              </a:rPr>
              <a:t>: </a:t>
            </a:r>
            <a:r>
              <a:rPr sz="1200" b="0" i="0" dirty="0" err="1">
                <a:solidFill>
                  <a:srgbClr val="8AC5DA"/>
                </a:solidFill>
                <a:latin typeface="Calibri"/>
              </a:rPr>
              <a:t>Tool_Post</a:t>
            </a:r>
            <a:r>
              <a:rPr sz="1200" b="0" i="0" dirty="0">
                <a:solidFill>
                  <a:srgbClr val="8AC5DA"/>
                </a:solidFill>
                <a:latin typeface="Calibri"/>
              </a:rPr>
              <a:t>_[</a:t>
            </a:r>
            <a:r>
              <a:rPr sz="1200" b="0" i="0" dirty="0" err="1">
                <a:solidFill>
                  <a:srgbClr val="8AC5DA"/>
                </a:solidFill>
                <a:latin typeface="Calibri"/>
              </a:rPr>
              <a:t>NamaKamu</a:t>
            </a:r>
            <a:r>
              <a:rPr sz="1200" b="0" i="0" dirty="0">
                <a:solidFill>
                  <a:srgbClr val="8AC5DA"/>
                </a:solidFill>
                <a:latin typeface="Calibri"/>
              </a:rPr>
              <a:t>].</a:t>
            </a:r>
            <a:r>
              <a:rPr sz="1200" b="0" i="0" dirty="0" err="1">
                <a:solidFill>
                  <a:srgbClr val="8AC5DA"/>
                </a:solidFill>
                <a:latin typeface="Calibri"/>
              </a:rPr>
              <a:t>iam</a:t>
            </a:r>
            <a:endParaRPr sz="1200" b="0" i="0" dirty="0">
              <a:solidFill>
                <a:srgbClr val="8AC5DA"/>
              </a:solidFill>
              <a:latin typeface="Calibri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0" y="6291072"/>
            <a:ext cx="12188952" cy="635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20040" y="6327648"/>
            <a:ext cx="3749039" cy="38404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9768" y="634593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✦ ING NGARSA  ·  Demo &amp; Penjelasan Konsep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70248" y="6327648"/>
            <a:ext cx="3749039" cy="38404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379976" y="634593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ING MADYA  ·  Mendampingi Praktik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0456" y="6327648"/>
            <a:ext cx="3749039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30184" y="6345936"/>
            <a:ext cx="35295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TUT WURI  ·  Refleksi &amp; Exit Ticket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08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530852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823460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116068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5408676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701284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993892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286500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579108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871716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164324" y="6675120"/>
            <a:ext cx="201168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7456932" y="6675120"/>
            <a:ext cx="201168" cy="914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000232" y="66385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7788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1229</Words>
  <Application>Microsoft Office PowerPoint</Application>
  <PresentationFormat>Kustom</PresentationFormat>
  <Paragraphs>224</Paragraphs>
  <Slides>11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2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Fanny Fatchur</cp:lastModifiedBy>
  <cp:revision>8</cp:revision>
  <dcterms:created xsi:type="dcterms:W3CDTF">2013-01-27T09:14:16Z</dcterms:created>
  <dcterms:modified xsi:type="dcterms:W3CDTF">2026-04-07T03:11:02Z</dcterms:modified>
  <cp:category/>
</cp:coreProperties>
</file>